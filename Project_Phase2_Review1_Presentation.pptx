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005840"/>
            <a:ext cx="88998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C8C"/>
                </a:solidFill>
              </a:defRPr>
            </a:pPr>
            <a:r>
              <a:t>Sustainable AI Assessment Platform</a:t>
            </a:r>
            <a:br/>
            <a:r>
              <a:t>for Algorithmic Problem Solving</a:t>
            </a:r>
          </a:p>
          <a:p>
            <a:pPr algn="ctr">
              <a:defRPr sz="1500" b="1">
                <a:solidFill>
                  <a:srgbClr val="D2A028"/>
                </a:solidFill>
              </a:defRPr>
            </a:pPr>
            <a:r>
              <a:t>Project Phase 2 – Review 1: Technical Advancements, Validation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017520"/>
            <a:ext cx="889985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323232"/>
                </a:solidFill>
              </a:defRPr>
            </a:pPr>
            <a:r>
              <a:t>Presented by Team 17:</a:t>
            </a:r>
          </a:p>
          <a:p>
            <a:pPr algn="ctr">
              <a:defRPr b="1" sz="1400">
                <a:solidFill>
                  <a:srgbClr val="1E3C8C"/>
                </a:solidFill>
              </a:defRPr>
            </a:pPr>
            <a:r>
              <a:t>Chirag T (1BM23CD013)   •   Mohammed Arshaq T (1BM23CD039)   •   Sudeeksha Reddy (1BM23CD027)</a:t>
            </a:r>
          </a:p>
          <a:p/>
          <a:p>
            <a:pPr algn="ctr">
              <a:defRPr b="1" sz="1300">
                <a:solidFill>
                  <a:srgbClr val="323232"/>
                </a:solidFill>
              </a:defRPr>
            </a:pPr>
            <a:r>
              <a:t>Under the Guidance of: Prof. Indra R</a:t>
            </a:r>
          </a:p>
          <a:p>
            <a:pPr algn="ctr">
              <a:defRPr sz="1200">
                <a:solidFill>
                  <a:srgbClr val="6E6E6E"/>
                </a:solidFill>
              </a:defRPr>
            </a:pPr>
            <a:r>
              <a:t>Assistant Professor, Dept. of CSE (Data Science)</a:t>
            </a:r>
            <a:br/>
            <a:r>
              <a:t>B.M.S. College of Engineering, Bengaluru (Autonomous Institute Affiliated to VTU)</a:t>
            </a:r>
            <a:br/>
            <a:r>
              <a:t>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Problem Background &amp; Academic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420624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E3C8C"/>
                </a:solidFill>
              </a:rPr>
              <a:t>Descriptive Algorithmic Answers: </a:t>
            </a:r>
            <a:r>
              <a:rPr sz="1300">
                <a:solidFill>
                  <a:srgbClr val="323232"/>
                </a:solidFill>
              </a:rPr>
              <a:t>CS courses require detailed explanations of logic, recurrence relations, intermediate states, and asymptotic complexity.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3C8C"/>
                </a:solidFill>
              </a:rPr>
              <a:t>Manual Evaluation Fatigue: </a:t>
            </a:r>
            <a:r>
              <a:rPr sz="1300">
                <a:solidFill>
                  <a:srgbClr val="323232"/>
                </a:solidFill>
              </a:rPr>
              <a:t>Grading hundreds of handwritten answer scripts is highly repetitive, slow, and prone to grader fatigue.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3C8C"/>
                </a:solidFill>
              </a:rPr>
              <a:t>Lack of Granular Feedback: </a:t>
            </a:r>
            <a:r>
              <a:rPr sz="1300">
                <a:solidFill>
                  <a:srgbClr val="323232"/>
                </a:solidFill>
              </a:rPr>
              <a:t>Students rarely receive step-by-step diagnostic feedback on proofs, trees, or algorithm traces.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420624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DC6414"/>
                </a:solidFill>
              </a:rPr>
              <a:t>Institutional Scalability: </a:t>
            </a:r>
            <a:r>
              <a:rPr sz="1300">
                <a:solidFill>
                  <a:srgbClr val="323232"/>
                </a:solidFill>
              </a:rPr>
              <a:t>Batch sizes exceeding 120+ students make thorough, continuous evaluation challenging for single instructors.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C6414"/>
                </a:solidFill>
              </a:rPr>
              <a:t>Subjectivity &amp; Variance: </a:t>
            </a:r>
            <a:r>
              <a:rPr sz="1300">
                <a:solidFill>
                  <a:srgbClr val="323232"/>
                </a:solidFill>
              </a:rPr>
              <a:t>Human evaluators apply inconsistent standards across a batch, leading to grade variations of up to ±15%.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DC6414"/>
                </a:solidFill>
              </a:rPr>
              <a:t>Pedagogical Value: </a:t>
            </a:r>
            <a:r>
              <a:rPr sz="1300">
                <a:solidFill>
                  <a:srgbClr val="323232"/>
                </a:solidFill>
              </a:rPr>
              <a:t>Immediate diagnostic feedback allows students to rectify misconceptions before summative examinations.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2895" cy="548640"/>
          </a:xfrm>
          <a:prstGeom prst="round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"A pressing need for an efficient, transparent, and scalable assessment platform."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Problem Statement &amp; Project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11887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2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6414"/>
                </a:solidFill>
              </a:defRPr>
            </a:pPr>
            <a:r>
              <a:t>PROBLEM DEFINITION</a:t>
            </a:r>
          </a:p>
          <a:p>
            <a:pPr>
              <a:defRPr sz="1500" b="1">
                <a:solidFill>
                  <a:srgbClr val="1E3C8C"/>
                </a:solidFill>
              </a:defRPr>
            </a:pPr>
            <a:r>
              <a:t>Develop a sustainable and privacy-preserving AI system to automatically evaluate descriptive algorithmic answer sheets using structured, rubric-based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200400" cy="33832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Core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E3C8C"/>
                </a:solidFill>
              </a:defRPr>
            </a:pPr>
            <a:r>
              <a:t>Handwritten Solutions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Evaluates handwritten descriptive solutions using Vision-Language Models (VLMs) and structured institutional course rubrics.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834640"/>
            <a:ext cx="3200400" cy="33832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Hardware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228B22"/>
                </a:solidFill>
              </a:defRPr>
            </a:pPr>
            <a:r>
              <a:t>100% Offline (Local CPU)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Runs entirely locally on standard CPU hardware with zero cloud APIs, ensuring student data privacy and zero recurring subscription fees.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834640"/>
            <a:ext cx="3200400" cy="33832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971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6414"/>
                </a:solidFill>
              </a:defRPr>
            </a:pPr>
            <a:r>
              <a:t>Pedagogical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C6414"/>
                </a:solidFill>
              </a:defRPr>
            </a:pPr>
            <a:r>
              <a:t>Transparent &amp; Auditable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Scores are tied directly to explicit rubric components with justification lines and Stage 4 human-in-the-loop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Motivation &amp; Need for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2828"/>
                </a:solidFill>
              </a:defRPr>
            </a:pPr>
            <a:r>
              <a:t>Limitations of Existing Automated Grading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Restricted Input Formats: </a:t>
            </a:r>
            <a:r>
              <a:rPr sz="1200">
                <a:solidFill>
                  <a:srgbClr val="323232"/>
                </a:solidFill>
              </a:rPr>
              <a:t>Existing tools are predominantly restricted to multiple-choice questions (MCQs) or executable code test-cases; unable to evaluate descriptive logic or hand-drawn structures.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Severe Privacy Risks: </a:t>
            </a:r>
            <a:r>
              <a:rPr sz="1200">
                <a:solidFill>
                  <a:srgbClr val="323232"/>
                </a:solidFill>
              </a:rPr>
              <a:t>State-of-the-art commercial solutions rely on cloud APIs (OpenAI/Claude/Gemini), exposing confidential student examination scripts to external third parties.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Prohibitive Token Costs: </a:t>
            </a:r>
            <a:r>
              <a:rPr sz="1200">
                <a:solidFill>
                  <a:srgbClr val="323232"/>
                </a:solidFill>
              </a:rPr>
              <a:t>High-volume token pricing makes continuous cloud grading financially infeasible for universities.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Black-Box Grading: </a:t>
            </a:r>
            <a:r>
              <a:rPr sz="1200">
                <a:solidFill>
                  <a:srgbClr val="323232"/>
                </a:solidFill>
              </a:rPr>
              <a:t>Generic prompt grading outputs an arbitrary score without verifiable rubric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Our Proposed Edge &amp; Innovations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100% Offline On-Device Deployment: </a:t>
            </a:r>
            <a:r>
              <a:rPr sz="1200">
                <a:solidFill>
                  <a:srgbClr val="323232"/>
                </a:solidFill>
              </a:rPr>
              <a:t>Runs locally on CPU workstations via quantized models; zero student data ever leaves the campus network.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Multimodal Perception: </a:t>
            </a:r>
            <a:r>
              <a:rPr sz="1200">
                <a:solidFill>
                  <a:srgbClr val="323232"/>
                </a:solidFill>
              </a:rPr>
              <a:t>Holistically reads handwritten text, LaTeX mathematical matrices, and hand-drawn graph/tree topologies in a single pass.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Sustainable Green AI: </a:t>
            </a:r>
            <a:r>
              <a:rPr sz="1200">
                <a:solidFill>
                  <a:srgbClr val="323232"/>
                </a:solidFill>
              </a:rPr>
              <a:t>Consumes ~40x less energy per evaluation than giant cloud models, utilizing existing laboratory desktop hardware.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Auditable Explainability: </a:t>
            </a:r>
            <a:r>
              <a:rPr sz="1200">
                <a:solidFill>
                  <a:srgbClr val="323232"/>
                </a:solidFill>
              </a:rPr>
              <a:t>Every deduction is tied to specific rubric criteria, with Stage 4 human-in-the-loop review for borderline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Literature Survey Overview (40+ Papers Reviewed)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Comprehensive literature review of 40+ peer-reviewed papers (2024–2026) categorized into four strategic research themes: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5029200" cy="192024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Theme 1: Auto Grading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323232"/>
                </a:solidFill>
              </a:defRPr>
            </a:pPr>
            <a:r>
              <a:t>Automated Grading &amp; AI Assessment</a:t>
            </a:r>
          </a:p>
          <a:p>
            <a:pPr>
              <a:defRPr sz="1000">
                <a:solidFill>
                  <a:srgbClr val="6E6E6E"/>
                </a:solidFill>
              </a:defRPr>
            </a:pPr>
            <a:r>
              <a:t>Analyzes LLMs and RAG in short-answer grading, explainability, bias mitigation, and formative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029200" cy="192024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Theme 2: OCR &amp; HTR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323232"/>
                </a:solidFill>
              </a:defRPr>
            </a:pPr>
            <a:r>
              <a:t>Digitizing Logic &amp; Layout Analysis</a:t>
            </a:r>
          </a:p>
          <a:p>
            <a:pPr>
              <a:defRPr sz="1000">
                <a:solidFill>
                  <a:srgbClr val="6E6E6E"/>
                </a:solidFill>
              </a:defRPr>
            </a:pPr>
            <a:r>
              <a:t>Examines LayoutLMv3, TrOCR, FERMAT, and spatial transformer networks for preserving indentation and handwriting.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97679"/>
            <a:ext cx="5029200" cy="192024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2A028"/>
                </a:solidFill>
              </a:defRPr>
            </a:pPr>
            <a:r>
              <a:t>Theme 3: SLMs &amp; Green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5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323232"/>
                </a:solidFill>
              </a:defRPr>
            </a:pPr>
            <a:r>
              <a:t>Small Language Models &amp; Sustainability</a:t>
            </a:r>
          </a:p>
          <a:p>
            <a:pPr>
              <a:defRPr sz="1000">
                <a:solidFill>
                  <a:srgbClr val="6E6E6E"/>
                </a:solidFill>
              </a:defRPr>
            </a:pPr>
            <a:r>
              <a:t>Investigates quantized models (Mistral, Phi-3, Qwen), 4-bit AWQ/GGUF, and CPU-based edge inference.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297679"/>
            <a:ext cx="5029200" cy="192024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6414"/>
                </a:solidFill>
              </a:defRPr>
            </a:pPr>
            <a:r>
              <a:t>Theme 4: Rubric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0915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323232"/>
                </a:solidFill>
              </a:defRPr>
            </a:pPr>
            <a:r>
              <a:t>Rubric-Based Algorithmic Logic</a:t>
            </a:r>
          </a:p>
          <a:p>
            <a:pPr>
              <a:defRPr sz="1000">
                <a:solidFill>
                  <a:srgbClr val="6E6E6E"/>
                </a:solidFill>
              </a:defRPr>
            </a:pPr>
            <a:r>
              <a:t>Explores Chain-of-Thought prompting, criteria alignment, synthetic rubrics, and interactive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Theme 1: Automated Grading &amp; AI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  <a:gridCol w="1828800"/>
                <a:gridCol w="1645920"/>
                <a:gridCol w="2224735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 (Paper)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Critical Insight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GenAI Scoring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Pecuchova et al. (2025)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Semantic analysis via GPT-4 &amp; Claude 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Open-Ended Short Answers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Course-Specific Submissions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LLMs match human grading in higher-order thinking but require strict rubric alignment.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Explainable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Thakur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TrueGradeAI (RAG + Bias Mitigation)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Secure Digital Exams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Simulated Exam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Explainability (citing evidence lines) is essential for user trust and auditability.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Emirtekin (2025)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PRISMA Systematic Review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AI in Education 4.0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ERIC / Scopus Database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Highlights unresolved issues in fairness, student data privacy, and algorithmic bias.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Code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Bernik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LLM-based Static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Intro Programming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Private Student 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AI reduces grading time for executable code but often fails on conceptual pseudocode.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Formative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Mendonça et al. (2025)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Automated Feedback Scoring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Science Education Scaffolding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Climate Change Module Logs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Prompt sensitivity significantly alters grading accuracy in formative tasks.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Theme 2: OCR &amp; HTR (Digitizing Logic)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  <a:gridCol w="1828800"/>
                <a:gridCol w="1645920"/>
                <a:gridCol w="2224735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 (Paper)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Critical Insight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Layout Analysis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Microsoft (2022)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LayoutLMv3 (Multimodal Transformer)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Document Structure &amp; Forms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FUNSD, CORD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Preserving 2D spatial indentation is vital for parsing algorithmic logic.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Handwritten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Kang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Vision-Language Models (FERMAT)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Handwritten Math &amp;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FERMAT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Structured handwritten logic benefits from multimodal reasoning; pure OCR fails.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Structured HTR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Xu et al. (2026)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MemOCR (Layout-Aware Transformer)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Algorithmic Sheets &amp; QA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DocVQA, TextVQA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Spatial hierarchy enables accurate reconstruction of loops and conditions.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Bala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Deep Learning HTR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Student Answer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IAM Handwriting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OCR must integrate directly with reasoning pipelines to correct recognition errors.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Transformer OCR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Li et al. (2021)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TrOCR (Encoder-Decoder)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Handwritten Recognition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IAM Handwriting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Pure Transformer vision-language architecture achieves SOTA on handwritten scripts.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Theme 3: Small Language Models &amp; Green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  <a:gridCol w="1828800"/>
                <a:gridCol w="1645920"/>
                <a:gridCol w="2224735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 (Paper)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Critical Insight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Green AI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UNESCO Report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SLM vs LLM Energy Analysis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Institutional Efficiency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Global Energy Stats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SLMs offer a 'Cheaper, Greener Route' for wide institutional adoption.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Local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Mistral 7B (Sliding Window)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Offline Server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Web/Code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Quantized local models retain 90% reasoning of GPT-4 while running fully offline.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Edge Deploy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Microsoft (2024)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Phi-3 Mini (3.8B Params)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Mobile/Edge Reasoning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Synthetic Textbooks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Reasoning-to-size ratio optimized for limited local hardware (CPU).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MDPI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Federated Learning / Local SLM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Sensitive Student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Architecture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Local on-device deployment eliminates GDPR and institutional data privacy risks.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Quantization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Chen et al.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AWQ / GGUF 4-Bit Quant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Hardware Optimization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LLaMA Benchmarks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4-bit quantization reduces memory footprint by 70% with negligible reasoning loss.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Theme 4: Rubric-Based Algorithmic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  <a:gridCol w="1828800"/>
                <a:gridCol w="1645920"/>
                <a:gridCol w="2224735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 (Paper)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Critical Insight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Rubric CoT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arXiv (2025)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'Rubric Is All You Need' (Agents)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Structured Code Grading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DSA/OOP Submissions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Chain-of-Thought prompting with rubrics outperforms generic grading prompts.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IJFMR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RubricAI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Plagiarism + Logic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Turnitin / Code 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Combining similarity checks with rubric logic ensures evaluation fairness.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Alignment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Reddy et al.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AutoGrader+ (Few-Shot)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Typed Exam Scripts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Instructor Rubrics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Human-aligned scoring requires strict adherence to institutional teacher criteria.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Interactive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Lee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Human-in-the-Loop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Open-Ended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Crowdsourced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Interactive verification (teacher overrides) substantially improves trust in AI grading.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Bias Check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Agarwal et al. (2025)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Domain-Specific Fine-Tuning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STEM Academic Corpus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SCQA Dataset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Domain adaptation prevents model bias against unique but correct solutions.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Literature Synthesis: Key Insights &amp; Architectural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Theme 1: Automated Grading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E3C8C"/>
                </a:solidFill>
              </a:rPr>
              <a:t>Critique: </a:t>
            </a:r>
            <a:r>
              <a:rPr sz="1100">
                <a:solidFill>
                  <a:srgbClr val="323232"/>
                </a:solidFill>
              </a:rPr>
              <a:t>Black-box AI scores without justification; confuses syntax vs logic.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3C8C"/>
                </a:solidFill>
              </a:rPr>
              <a:t>Inference: </a:t>
            </a:r>
            <a:r>
              <a:rPr sz="1100">
                <a:solidFill>
                  <a:srgbClr val="323232"/>
                </a:solidFill>
              </a:rPr>
              <a:t>Actionable step feedback builds pedagogical trust.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3C8C"/>
                </a:solidFill>
              </a:rPr>
              <a:t>Adoption: </a:t>
            </a:r>
            <a:r>
              <a:rPr sz="1100">
                <a:solidFill>
                  <a:srgbClr val="323232"/>
                </a:solidFill>
              </a:rPr>
              <a:t>Map Chain-of-Thought reasoning directly to rubric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Theme 2: OCR &amp; HTR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228B22"/>
                </a:solidFill>
              </a:rPr>
              <a:t>Critique: </a:t>
            </a:r>
            <a:r>
              <a:rPr sz="1100">
                <a:solidFill>
                  <a:srgbClr val="323232"/>
                </a:solidFill>
              </a:rPr>
              <a:t>Standard OCR flattens text, losing 2D indentations and diagrams.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228B22"/>
                </a:solidFill>
              </a:rPr>
              <a:t>Inference: </a:t>
            </a:r>
            <a:r>
              <a:rPr sz="1100">
                <a:solidFill>
                  <a:srgbClr val="323232"/>
                </a:solidFill>
              </a:rPr>
              <a:t>Layout = logic. Graphs/matrices are critical to algorithms.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228B22"/>
                </a:solidFill>
              </a:rPr>
              <a:t>Adoption: </a:t>
            </a:r>
            <a:r>
              <a:rPr sz="1100">
                <a:solidFill>
                  <a:srgbClr val="323232"/>
                </a:solidFill>
              </a:rPr>
              <a:t>Upgrade to Multimodal Vision-Language Models (VLMs).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2A028"/>
                </a:solidFill>
              </a:defRPr>
            </a:pPr>
            <a:r>
              <a:t>Theme 3: Local SLMs &amp; Green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D2A028"/>
                </a:solidFill>
              </a:rPr>
              <a:t>Critique: </a:t>
            </a:r>
            <a:r>
              <a:rPr sz="1100">
                <a:solidFill>
                  <a:srgbClr val="323232"/>
                </a:solidFill>
              </a:rPr>
              <a:t>Cloud LLMs risk privacy, high latency, and continuous costs.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D2A028"/>
                </a:solidFill>
              </a:rPr>
              <a:t>Inference: </a:t>
            </a:r>
            <a:r>
              <a:rPr sz="1100">
                <a:solidFill>
                  <a:srgbClr val="323232"/>
                </a:solidFill>
              </a:rPr>
              <a:t>Quantized 8B models retain &gt;90% reasoning capacity on CPU.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D2A028"/>
                </a:solidFill>
              </a:rPr>
              <a:t>Adoption: </a:t>
            </a:r>
            <a:r>
              <a:rPr sz="1100">
                <a:solidFill>
                  <a:srgbClr val="323232"/>
                </a:solidFill>
              </a:rPr>
              <a:t>Deploy 4-bit Qwen3-VL (8B) locally via Ollama.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6414"/>
                </a:solidFill>
              </a:defRPr>
            </a:pPr>
            <a:r>
              <a:t>Theme 4: Rubric-Based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DC6414"/>
                </a:solidFill>
              </a:rPr>
              <a:t>Critique: </a:t>
            </a:r>
            <a:r>
              <a:rPr sz="1100">
                <a:solidFill>
                  <a:srgbClr val="323232"/>
                </a:solidFill>
              </a:rPr>
              <a:t>Generic prompts cause severe criteria drift and hallucination.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DC6414"/>
                </a:solidFill>
              </a:rPr>
              <a:t>Inference: </a:t>
            </a:r>
            <a:r>
              <a:rPr sz="1100">
                <a:solidFill>
                  <a:srgbClr val="323232"/>
                </a:solidFill>
              </a:rPr>
              <a:t>Explicit rubric checkpoints force objective mark deduction.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DC6414"/>
                </a:solidFill>
              </a:rPr>
              <a:t>Adoption: </a:t>
            </a:r>
            <a:r>
              <a:rPr sz="1100">
                <a:solidFill>
                  <a:srgbClr val="323232"/>
                </a:solidFill>
              </a:rPr>
              <a:t>Enforce JSON Schema decoding + Stage 4 Human Triage.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Architecture Comparison: Pipeline Flow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2828"/>
                </a:solidFill>
              </a:defRPr>
            </a:pPr>
            <a:r>
              <a:t>Previous Architecture (Phase 1 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C82828"/>
                </a:solidFill>
              </a:defRPr>
            </a:pPr>
            <a:r>
              <a:t>FRAGMENTED MULTI-HOP PIPELINE (Cascading Failures)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OpenCV Contour Bounding-Box Slicing</a:t>
            </a:r>
          </a:p>
          <a:p>
            <a:pPr>
              <a:defRPr sz="1100" b="1">
                <a:solidFill>
                  <a:srgbClr val="C82828"/>
                </a:solidFill>
              </a:defRPr>
            </a:pPr>
            <a:r>
              <a:t>   ❌ Physical slicing severed multi-line equations &amp; matrices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Mistral Cloud OCR / TrOCR Micro-Extraction</a:t>
            </a:r>
          </a:p>
          <a:p>
            <a:pPr>
              <a:defRPr sz="1100" b="1">
                <a:solidFill>
                  <a:srgbClr val="C82828"/>
                </a:solidFill>
              </a:defRPr>
            </a:pPr>
            <a:r>
              <a:t>   ❌ Cloud API dependency violated offline institutional privacy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Regex Heuristic Text Structuring</a:t>
            </a:r>
          </a:p>
          <a:p>
            <a:pPr>
              <a:defRPr sz="1100" b="1">
                <a:solidFill>
                  <a:srgbClr val="C82828"/>
                </a:solidFill>
              </a:defRPr>
            </a:pPr>
            <a:r>
              <a:t>   ❌ Brittle pattern matching dropped unstructured handwriting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Text-Only 0.5B SLM (Qwen2.5-0.5B)</a:t>
            </a:r>
          </a:p>
          <a:p>
            <a:pPr>
              <a:defRPr sz="1100" b="1">
                <a:solidFill>
                  <a:srgbClr val="C82828"/>
                </a:solidFill>
              </a:defRPr>
            </a:pPr>
            <a:r>
              <a:t>   ❌ Completely blind to hand-drawn graph/tree diagrams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5. Raw Score Output with Zero Appeal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New Architecture (Phase 2 Current)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28B22"/>
                </a:solidFill>
              </a:defRPr>
            </a:pPr>
            <a:r>
              <a:t>UNIFIED MULTIMODAL VLM PIPELINE (Zero Cloud)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Whole-Page High-Resolution Ingestion (1280px)</a:t>
            </a:r>
          </a:p>
          <a:p>
            <a:pPr>
              <a:defRPr sz="1100" b="1">
                <a:solidFill>
                  <a:srgbClr val="228B22"/>
                </a:solidFill>
              </a:defRPr>
            </a:pPr>
            <a:r>
              <a:t>   ✓ Zero bounding-box slicing; preserves full spatial layout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Unified Multimodal VLM: Qwen3-VL (8B)</a:t>
            </a:r>
          </a:p>
          <a:p>
            <a:pPr>
              <a:defRPr sz="1100" b="1">
                <a:solidFill>
                  <a:srgbClr val="228B22"/>
                </a:solidFill>
              </a:defRPr>
            </a:pPr>
            <a:r>
              <a:t>   ✓ 100% offline CPU inference via Ollama runtime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Simultaneous Perception: Text + Math + Diagrams</a:t>
            </a:r>
          </a:p>
          <a:p>
            <a:pPr>
              <a:defRPr sz="1100" b="1">
                <a:solidFill>
                  <a:srgbClr val="228B22"/>
                </a:solidFill>
              </a:defRPr>
            </a:pPr>
            <a:r>
              <a:t>   ✓ Transcribes Markdown prose and verbatim LaTeX formulas</a:t>
            </a:r>
          </a:p>
          <a:p>
            <a:pPr>
              <a:defRPr sz="1100" b="1">
                <a:solidFill>
                  <a:srgbClr val="228B22"/>
                </a:solidFill>
              </a:defRPr>
            </a:pPr>
            <a:r>
              <a:t>   ✓ Parses graph nodes, edge weights &amp; matrix state transitions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8-Component Institutional Course Rubric Evaluation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5. Stage 4 Educator Review &amp; Score Override Queue</a:t>
            </a:r>
          </a:p>
          <a:p>
            <a:pPr>
              <a:defRPr sz="1100" b="1">
                <a:solidFill>
                  <a:srgbClr val="228B22"/>
                </a:solidFill>
              </a:defRPr>
            </a:pPr>
            <a:r>
              <a:t>   ✓ Protects borderline scores (&lt;60%) with human 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ARCHITECTURE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Architecture Comparison: Technical Feature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3291840"/>
                <a:gridCol w="1767535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Architectural Dimension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Previous Arch (Phase 1 Baseline)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New Arch (Phase 2 Current)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Advantage / Impact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Visual Ingestion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OpenCV contour slicing into isolated bounding boxes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Whole-page normalized ingestion (1280px)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No cut formulas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Diagram &amp; Graph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Unsupported (Blind to hand-drawn figures)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Direct vision parsing to adjacency 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Full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Mathematical Formulas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ASCII approximations via OCR; broken super/subscripts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Verbatim LaTeX transcription (D^(0) -&gt; D^(4))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Preserves indices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Model Size &amp; 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0.5B text-only SLM + cloud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8.8B Multimodal VLM (Qwen3-VL Q4_K_M)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17.6x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Data Privacy &amp; Offline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Hybrid Edge-Cloud (Raw images sent over API)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100% Offline On-Device (Runs via Ollama CPU)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Zero cloud leaks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Rubric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Generic Chain-of-Thought prompting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Strict JSON schema on 8 rubric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No criteria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C8C"/>
                          </a:solidFill>
                        </a:defRPr>
                      </a:pPr>
                      <a:r>
                        <a:t>Human Governance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Static score with no appeal mechanism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Stage 4 Review Queue with inline override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Human-in-the-loop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Case Study: Resolving Real-World Grading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640080"/>
          </a:xfrm>
          <a:prstGeom prst="roundRect">
            <a:avLst/>
          </a:prstGeom>
          <a:solidFill>
            <a:srgbClr val="F5F7FB"/>
          </a:solidFill>
          <a:ln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E3C8C"/>
                </a:solidFill>
              </a:defRPr>
            </a:pPr>
            <a:r>
              <a:t>Benchmark Test Case: Floyd-Warshall Exam Script (Student: Shubh Mishra, USN: 1BM22CS189, Course: DAA 235S4PCADP)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937760" cy="4023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2828"/>
                </a:solidFill>
              </a:defRPr>
            </a:pPr>
            <a:r>
              <a:t>How Previous Arch Failed (Score: 1.5 /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Bounding Box Equation Split: </a:t>
            </a:r>
            <a:r>
              <a:rPr sz="1200">
                <a:solidFill>
                  <a:srgbClr val="323232"/>
                </a:solidFill>
              </a:rPr>
              <a:t>OpenCV contour slicing cut across the D^(0) distance matrix row. The text SLM received fragments '[0, 3, inf]' and '[8, ...]' as separate entities and failed to recognize the matrix.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Diagram Completely Skipped: </a:t>
            </a:r>
            <a:r>
              <a:rPr sz="1200">
                <a:solidFill>
                  <a:srgbClr val="323232"/>
                </a:solidFill>
              </a:rPr>
              <a:t>The 4-vertex directed train station graph was categorized as background noise; 0 marks awarded for clarity.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C82828"/>
                </a:solidFill>
              </a:rPr>
              <a:t>Hallucinatory Penalization: </a:t>
            </a:r>
            <a:r>
              <a:rPr sz="1200">
                <a:solidFill>
                  <a:srgbClr val="323232"/>
                </a:solidFill>
              </a:rPr>
              <a:t>Because OCR dropped superscripts, student was penalized 8.5 marks for an essentially correct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4937760" cy="4023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How New Arch Succeeded (Score: 8.0 / 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Whole-Page Semantic Recognition: </a:t>
            </a:r>
            <a:r>
              <a:rPr sz="1200">
                <a:solidFill>
                  <a:srgbClr val="323232"/>
                </a:solidFill>
              </a:rPr>
              <a:t>Qwen3-VL sees the whole page. Transcribed full 4x4 matrix into clean LaTeX notation with infinity symbols and correct row indices.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Direct Graph Topology Extraction: </a:t>
            </a:r>
            <a:r>
              <a:rPr sz="1200">
                <a:solidFill>
                  <a:srgbClr val="323232"/>
                </a:solidFill>
              </a:rPr>
              <a:t>Correctly extracted 4 vertices {1, 2, 3, 4} and directed edge weights {(1-&gt;2: 3), (1-&gt;4: 8), (2-&gt;3: 4)...} directly into structural JSON.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28B22"/>
                </a:solidFill>
              </a:rPr>
              <a:t>Stage 4 Review Flag Triggered: </a:t>
            </a:r>
            <a:r>
              <a:rPr sz="1200">
                <a:solidFill>
                  <a:srgbClr val="323232"/>
                </a:solidFill>
              </a:rPr>
              <a:t>Student wrote '5/10' on their paper while AI scored 8/10. The system automatically flagged Page 2 for human teacher sign-off.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Phase 2 Technical Stack &amp; On-Device CPU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Full-Stack Implementation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E3C8C"/>
                </a:solidFill>
              </a:rPr>
              <a:t>Vision-Language Model: </a:t>
            </a:r>
            <a:r>
              <a:rPr sz="1200">
                <a:solidFill>
                  <a:srgbClr val="323232"/>
                </a:solidFill>
              </a:rPr>
              <a:t>Qwen3-VL (8.8B Parameters, Q4_K_M GGUF format, 6.14 GB size)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C8C"/>
                </a:solidFill>
              </a:rPr>
              <a:t>Model Execution Engine: </a:t>
            </a:r>
            <a:r>
              <a:rPr sz="1200">
                <a:solidFill>
                  <a:srgbClr val="323232"/>
                </a:solidFill>
              </a:rPr>
              <a:t>Ollama 0.5.x standalone local inference runtime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C8C"/>
                </a:solidFill>
              </a:rPr>
              <a:t>Backend Framework: </a:t>
            </a:r>
            <a:r>
              <a:rPr sz="1200">
                <a:solidFill>
                  <a:srgbClr val="323232"/>
                </a:solidFill>
              </a:rPr>
              <a:t>FastAPI 0.115 + Uvicorn (Asynchronous REST API)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C8C"/>
                </a:solidFill>
              </a:rPr>
              <a:t>Database Layer: </a:t>
            </a:r>
            <a:r>
              <a:rPr sz="1200">
                <a:solidFill>
                  <a:srgbClr val="323232"/>
                </a:solidFill>
              </a:rPr>
              <a:t>MongoDB 7.0 with Motor async driver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C8C"/>
                </a:solidFill>
              </a:rPr>
              <a:t>Task Orchestration: </a:t>
            </a:r>
            <a:r>
              <a:rPr sz="1200">
                <a:solidFill>
                  <a:srgbClr val="323232"/>
                </a:solidFill>
              </a:rPr>
              <a:t>Arq Redis Pool + In-Process Asyncio Fallback Worker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3C8C"/>
                </a:solidFill>
              </a:rPr>
              <a:t>Frontend Application: </a:t>
            </a:r>
            <a:r>
              <a:rPr sz="1200">
                <a:solidFill>
                  <a:srgbClr val="323232"/>
                </a:solidFill>
              </a:rPr>
              <a:t>React 19, TypeScript 5.6, Vite 7, Tailwind CSS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6414"/>
                </a:solidFill>
              </a:defRPr>
            </a:pPr>
            <a:r>
              <a:t>Local CPU Inference Optimization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DC6414"/>
                </a:solidFill>
              </a:rPr>
              <a:t>4-Bit Quantization (Q4_K_M): </a:t>
            </a:r>
            <a:r>
              <a:rPr sz="1200">
                <a:solidFill>
                  <a:srgbClr val="323232"/>
                </a:solidFill>
              </a:rPr>
              <a:t>Compressed model footprint from 17.6 GB down to 6.14 GB, enabling execution on standard 16GB-32GB CPU RAM without GPU.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C6414"/>
                </a:solidFill>
              </a:rPr>
              <a:t>Reasoning Suppression (think: false): </a:t>
            </a:r>
            <a:r>
              <a:rPr sz="1200">
                <a:solidFill>
                  <a:srgbClr val="323232"/>
                </a:solidFill>
              </a:rPr>
              <a:t>Qwen3-VL streams verbose thinking tokens by default (~1000 tokens, taking 3 mins). Passing think: false suppressed internal reasoning, dropping latency to &lt;25s/page.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DC6414"/>
                </a:solidFill>
              </a:rPr>
              <a:t>Resolution Clamping (1280px): </a:t>
            </a:r>
            <a:r>
              <a:rPr sz="1200">
                <a:solidFill>
                  <a:srgbClr val="323232"/>
                </a:solidFill>
              </a:rPr>
              <a:t>Downsampled scanned sheets to max 1280px maintaining aspect ratio. Drastically reduces vision-transformer patch tokenization latency while preserving stroke clarity.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Empirical Validation &amp; Results Analysis (CO1, CO2)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Defined Test Dataset &amp;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E3C8C"/>
                </a:solidFill>
              </a:defRPr>
            </a:pPr>
            <a:r>
              <a:t>Dataset: 50+ Handwritten Scripts from DAA Course 235S4PCADP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TC-1: Ideal Full Solution: </a:t>
            </a:r>
            <a:r>
              <a:rPr sz="1100">
                <a:solidFill>
                  <a:srgbClr val="6E6E6E"/>
                </a:solidFill>
              </a:rPr>
              <a:t>Verified 4.0/4.0 score, complete LaTeX formula and directed graph adjacency recognition.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TC-2: Partial Arithmetic Error: </a:t>
            </a:r>
            <a:r>
              <a:rPr sz="1100">
                <a:solidFill>
                  <a:srgbClr val="6E6E6E"/>
                </a:solidFill>
              </a:rPr>
              <a:t>Formula correct, error in intermediate D^(2) trace. Accurately deducted 2.0 marks per rubric.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TC-3: Missing Diagram: </a:t>
            </a:r>
            <a:r>
              <a:rPr sz="1100">
                <a:solidFill>
                  <a:srgbClr val="6E6E6E"/>
                </a:solidFill>
              </a:rPr>
              <a:t>Algorithm steps provided without graph diagram. Component score for clarity penalized correctly.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TC-4: Score Discrepancy: </a:t>
            </a:r>
            <a:r>
              <a:rPr sz="1100">
                <a:solidFill>
                  <a:srgbClr val="6E6E6E"/>
                </a:solidFill>
              </a:rPr>
              <a:t>Handwritten teacher mark 5/10 vs AI 8/10. Automatically routed to Stage 4 review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Empirical Metrics (Phase 1 vs Phase 2)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201168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Rubric Score Agreement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B22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LaTeX Formula Fidelity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78.4%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B22"/>
                          </a:solidFill>
                        </a:defRPr>
                      </a:pPr>
                      <a:r>
                        <a:t>96.1%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Graph Topology Accuracy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0% (Blind)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B2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Mean Absolute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±0.8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B22"/>
                          </a:solidFill>
                        </a:defRPr>
                      </a:pPr>
                      <a:r>
                        <a:t>±0.45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Offline Execution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Partial Cloud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8B22"/>
                          </a:solidFill>
                        </a:defRPr>
                      </a:pPr>
                      <a:r>
                        <a:t>100% Offline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1206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28B22"/>
                </a:solidFill>
              </a:defRPr>
            </a:pPr>
            <a:r>
              <a:t>✓ Human Faculty Agreement: 92.5% correlation across 50 scripts with zero format parsing failures.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Research Paper Progress &amp; Plagiarism Compliance (CO4)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Paper Specifications &amp; Target 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1E3C8C"/>
                </a:solidFill>
              </a:defRPr>
            </a:pPr>
            <a:r>
              <a:t>A Sustainable, Privacy-Preserving Multimodal AI Framework for Offline Assessment of Descriptive Algorithmic Problem Solving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23232"/>
                </a:solidFill>
              </a:rPr>
              <a:t>Target Venue: </a:t>
            </a:r>
            <a:r>
              <a:rPr sz="1100">
                <a:solidFill>
                  <a:srgbClr val="6E6E6E"/>
                </a:solidFill>
              </a:rPr>
              <a:t>IEEE Access (SCIE, Q1) / IEEE TALE 2026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23232"/>
                </a:solidFill>
              </a:rPr>
              <a:t>Format: </a:t>
            </a:r>
            <a:r>
              <a:rPr sz="1100">
                <a:solidFill>
                  <a:srgbClr val="6E6E6E"/>
                </a:solidFill>
              </a:rPr>
              <a:t>Standard IEEE 2-Column Template (8+ Pages drafted in Overleaf)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23232"/>
                </a:solidFill>
              </a:rPr>
              <a:t>Section Completion: </a:t>
            </a:r>
            <a:r>
              <a:rPr sz="1100">
                <a:solidFill>
                  <a:srgbClr val="6E6E6E"/>
                </a:solidFill>
              </a:rPr>
              <a:t>Abstract, Intro, Related Work (40+ papers), System Architecture (100%), Experimental Validation (90%)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23232"/>
                </a:solidFill>
              </a:rPr>
              <a:t>Overleaf Repository: </a:t>
            </a:r>
            <a:r>
              <a:rPr sz="1100">
                <a:solidFill>
                  <a:srgbClr val="6E6E6E"/>
                </a:solidFill>
              </a:rPr>
              <a:t>Fully synced with active bibtex citations and vector figures.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Similarity / Plagiarism Gate (Mandatory)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228B22"/>
                </a:solidFill>
              </a:defRPr>
            </a:pPr>
            <a:r>
              <a:t>MANDATORY COMPLIANCE GATE (Similarity &lt;= 10%)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Similarity Tool: </a:t>
            </a:r>
            <a:r>
              <a:rPr sz="1200">
                <a:solidFill>
                  <a:srgbClr val="6E6E6E"/>
                </a:solidFill>
              </a:rPr>
              <a:t>Turnitin / DrillBit (Institutional Account)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Overall Similarity: </a:t>
            </a:r>
            <a:r>
              <a:rPr sz="1200">
                <a:solidFill>
                  <a:srgbClr val="228B22"/>
                </a:solidFill>
              </a:rPr>
              <a:t>7% (Passes &lt;= 10% threshold comfortably)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Internet Sources: </a:t>
            </a:r>
            <a:r>
              <a:rPr sz="1200">
                <a:solidFill>
                  <a:srgbClr val="6E6E6E"/>
                </a:solidFill>
              </a:rPr>
              <a:t>3%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Publications: </a:t>
            </a:r>
            <a:r>
              <a:rPr sz="1200">
                <a:solidFill>
                  <a:srgbClr val="6E6E6E"/>
                </a:solidFill>
              </a:rPr>
              <a:t>4%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Student Papers: </a:t>
            </a:r>
            <a:r>
              <a:rPr sz="1200">
                <a:solidFill>
                  <a:srgbClr val="6E6E6E"/>
                </a:solidFill>
              </a:rPr>
              <a:t>&lt; 1%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323232"/>
                </a:solidFill>
              </a:rPr>
              <a:t>Exclusion Filters: </a:t>
            </a:r>
            <a:r>
              <a:rPr sz="1200">
                <a:solidFill>
                  <a:srgbClr val="6E6E6E"/>
                </a:solidFill>
              </a:rPr>
              <a:t>Bibliography, references, and mathematical standard definitions properly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029200"/>
            <a:ext cx="4572000" cy="73152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✓ PLAGIARISM AUDIT PASSED: 7% SIMILARITY</a:t>
            </a:r>
            <a:br/>
            <a:r>
              <a:t>Eligible for full 5/5 marks in Research Paper parameter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Project Planning, Progress Tracking &amp; Risk Management (CO4)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46304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Planned Milestone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C8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Baseline Architecture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Dec 25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Dec 25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Completed ✓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VLM Exploration &amp;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Jan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Jan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Completed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CPU Optimization Tuning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Feb 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Feb 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Completed ✓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Full Web App &amp; Review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Feb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Mar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Completed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50-Script Benchmark Eval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Mar 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Mar 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90% Completed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371600"/>
          <a:ext cx="49377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2801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Identified Risk</a:t>
                      </a:r>
                    </a:p>
                  </a:txBody>
                  <a:tcPr>
                    <a:solidFill>
                      <a:srgbClr val="DC6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DC6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Adjustment</a:t>
                      </a:r>
                    </a:p>
                  </a:txBody>
                  <a:tcPr>
                    <a:solidFill>
                      <a:srgbClr val="DC64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CPU Latency Saturation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Applied 4-bit quant + clamped 1280px + think:false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Latency &lt; 25s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Criteria Drift &amp; 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Strict JSON schema mapped directly to 8 rubric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Zero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Student Handwriting Ambiguity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Stage 4 Triage Queue: borderline scripts flagged for educator sign-off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8B22"/>
                          </a:solidFill>
                        </a:defRPr>
                      </a:pPr>
                      <a:r>
                        <a:t>Human override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F5F7FB"/>
          </a:solidFill>
          <a:ln>
            <a:solidFill>
              <a:srgbClr val="1E3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3C8C"/>
                </a:solidFill>
              </a:defRPr>
            </a:pPr>
            <a:r>
              <a:t>PROJECT ROADMAP: Phase 1 (Lit Survey &amp; Baseline) -&gt; Review 1 (Unified VLM &amp; Live Web App) -&gt; Review 2 (100-Script Scaling &amp; Final Submission)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Current Review 1 Status: End-to-end working system with 92.5% rubric agreement on live student scripts.</a:t>
            </a:r>
          </a:p>
          <a:p>
            <a:pPr>
              <a:defRPr sz="1100">
                <a:solidFill>
                  <a:srgbClr val="6E6E6E"/>
                </a:solidFill>
              </a:defRPr>
            </a:pPr>
            <a:r>
              <a:t>• Review 2 Focus: Cross-subject testing (DBMS, OOP) and finalized camera-ready manuscript.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SDG Alignment &amp; Beneficiary Community Impact (CO3)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SDG 4: Quality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323232"/>
                </a:solidFill>
              </a:defRPr>
            </a:pPr>
            <a:r>
              <a:t>Beneficiaries: Evaluators &amp; Students</a:t>
            </a:r>
          </a:p>
          <a:p>
            <a:pPr>
              <a:defRPr sz="1100">
                <a:solidFill>
                  <a:srgbClr val="6E6E6E"/>
                </a:solidFill>
              </a:defRPr>
            </a:pPr>
            <a:r>
              <a:t>Reduces grading turnaround from 14 days to under 2 minutes per script. Delivers actionable, step-by-step diagnostic feedback to students before next assessments.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SDG 9: Industry &amp;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323232"/>
                </a:solidFill>
              </a:defRPr>
            </a:pPr>
            <a:r>
              <a:t>Beneficiaries: Tier-2/3 Institutions</a:t>
            </a:r>
          </a:p>
          <a:p>
            <a:pPr>
              <a:defRPr sz="1100">
                <a:solidFill>
                  <a:srgbClr val="6E6E6E"/>
                </a:solidFill>
              </a:defRPr>
            </a:pPr>
            <a:r>
              <a:t>100% Offline Execution on Standard Lab PCs: Eliminates the requirement for multi-thousand dollar cloud GPU clusters, democratizing automated assessment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2A028"/>
                </a:solidFill>
              </a:defRPr>
            </a:pPr>
            <a:r>
              <a:t>SDG 12: Responsible 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323232"/>
                </a:solidFill>
              </a:defRPr>
            </a:pPr>
            <a:r>
              <a:t>Beneficiaries: Academic IT Infrastructure</a:t>
            </a:r>
          </a:p>
          <a:p>
            <a:pPr>
              <a:defRPr sz="1100">
                <a:solidFill>
                  <a:srgbClr val="6E6E6E"/>
                </a:solidFill>
              </a:defRPr>
            </a:pPr>
            <a:r>
              <a:t>Avoids recurring cloud token bills ($500+/semester per course). Maximizes life cycle of existing campus hardware via quantized CPU inference.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6414"/>
                </a:solidFill>
              </a:defRPr>
            </a:pPr>
            <a:r>
              <a:t>SDG 13: Climate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323232"/>
                </a:solidFill>
              </a:defRPr>
            </a:pPr>
            <a:r>
              <a:t>Beneficiaries: Global Environment</a:t>
            </a:r>
          </a:p>
          <a:p>
            <a:pPr>
              <a:defRPr sz="1100">
                <a:solidFill>
                  <a:srgbClr val="6E6E6E"/>
                </a:solidFill>
              </a:defRPr>
            </a:pPr>
            <a:r>
              <a:t>Quantized local 8B model inference consumes ~40x less energy per evaluation than querying hyperscale cloud LLM APIs, minimizing academic carbon footprint.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Team Work Division &amp; Individual Contributions (CO5)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Chirag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6E6E6E"/>
                </a:solidFill>
              </a:defRPr>
            </a:pPr>
            <a:r>
              <a:t>USN: 1BM23CD013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Core Multimodal AI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Local Qwen3-VL (8B) Ollama Integration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CPU Latency &amp; Memory Clamping Tuning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FastAPI Backend REST Endpoints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Model Fallback &amp; Resiliency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Mohammed Arshaq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6E6E6E"/>
                </a:solidFill>
              </a:defRPr>
            </a:pPr>
            <a:r>
              <a:t>USN: 1BM23CD039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Full-Stack Frontend Architecture (React/Vite)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Stage 4 Educator Review &amp; Override UI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Live Class Analytics &amp; Grade Distribution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MongoDB Database Schema Design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API Client &amp; State Polling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6414"/>
                </a:solidFill>
              </a:defRPr>
            </a:pPr>
            <a:r>
              <a:t>Sudeeksha Reddy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6E6E6E"/>
                </a:solidFill>
              </a:defRPr>
            </a:pPr>
            <a:r>
              <a:t>USN: 1BM23CD027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Rubric Engineering &amp; Ground-Truth Design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Curated 50-Script Handwritten DAA Dataset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Faculty Evaluation Benchmarking (MAE)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Research Paper Drafting in Overleaf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</a:defRPr>
            </a:pPr>
            <a:r>
              <a:t>• Plagiarism Compliance &amp; Turnitin Audit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2A028"/>
                </a:solidFill>
              </a:defRPr>
            </a:pPr>
            <a:r>
              <a:t>PROJECT PHASE 2 –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Conclusion &amp; Live Platform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Sustainable AI Assessment Platform • B.M.S. College of Engineering • Dept. of CSE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937760" cy="38404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Phase 2 Review 1 Deliverables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✓ 100% Offline Multimodal Pipeline: Qwen3-VL 8B executing locally on standard CPU.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✓ Verbatim LaTeX Math Transcription: Infinity symbols, recurrence relations, and matrices.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✓ Structural Graph Topology Parsing: Nodes, directed edges, and adjacency weights.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✓ Stage 4 Human-in-the-Loop Governance: Interactive educator override and audit queue.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✓ Mandatory Compliance Passed: 7% Turnitin similarity index achieved on research draft.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37760" cy="3840480"/>
          </a:xfrm>
          <a:prstGeom prst="roundRect">
            <a:avLst/>
          </a:prstGeom>
          <a:solidFill>
            <a:srgbClr val="F5F7FB"/>
          </a:solidFill>
          <a:ln w="19050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8C"/>
                </a:solidFill>
              </a:defRPr>
            </a:pPr>
            <a:r>
              <a:t>Review 2 Target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323232"/>
                </a:solidFill>
              </a:defRPr>
            </a:pPr>
            <a:r>
              <a:t>➔ Scaling dataset to 100+ multi-subject exam scripts (DBMS, Operating Systems, OOP).</a:t>
            </a:r>
          </a:p>
          <a:p>
            <a:pPr>
              <a:spcAft>
                <a:spcPts val="1000"/>
              </a:spcAft>
              <a:defRPr sz="1100">
                <a:solidFill>
                  <a:srgbClr val="323232"/>
                </a:solidFill>
              </a:defRPr>
            </a:pPr>
            <a:r>
              <a:t>➔ Automated per-student PDF diagnostic feedback report generation.</a:t>
            </a:r>
          </a:p>
          <a:p>
            <a:pPr>
              <a:spcAft>
                <a:spcPts val="1000"/>
              </a:spcAft>
              <a:defRPr sz="1100">
                <a:solidFill>
                  <a:srgbClr val="323232"/>
                </a:solidFill>
              </a:defRPr>
            </a:pPr>
            <a:r>
              <a:t>➔ Final paper submission to IEEE Access / IEEE TALE 2026 conference.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94960"/>
            <a:ext cx="10362895" cy="822960"/>
          </a:xfrm>
          <a:prstGeom prst="roundRect">
            <a:avLst/>
          </a:prstGeom>
          <a:solidFill>
            <a:srgbClr val="1E3C8C"/>
          </a:solidFill>
          <a:ln w="25400">
            <a:solidFill>
              <a:srgbClr val="D2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D2A028"/>
                </a:solidFill>
              </a:defRPr>
            </a:pPr>
            <a:r>
              <a:t>NOW PROCEEDING TO LIVE WORKING PLATFORM DEMONSTRATION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Live Localhost UI: Upload Script -&gt; Unified VLM Transcription -&gt; Rubric Scoring -&gt; Stage 4 Review Queue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